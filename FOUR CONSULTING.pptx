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9" r:id="rId3"/>
    <p:sldId id="257" r:id="rId4"/>
    <p:sldId id="258" r:id="rId5"/>
    <p:sldId id="289" r:id="rId6"/>
    <p:sldId id="290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94660"/>
  </p:normalViewPr>
  <p:slideViewPr>
    <p:cSldViewPr snapToGrid="0">
      <p:cViewPr>
        <p:scale>
          <a:sx n="72" d="100"/>
          <a:sy n="72" d="100"/>
        </p:scale>
        <p:origin x="716" y="-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py%20of%20Copy%20of%20Copy%20of%20Data%20-%20Junior%20Case%20-%20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py%20of%20Copy%20of%20Copy%20of%20Data%20-%20Junior%20Case%20-%20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py%20of%20Copy%20of%20Copy%20of%20Data%20-%20Junior%20Case%20-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Copy of Copy of Data - Junior Case - 2026.xlsx] sale growth 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Sale growth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 sale growth 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 sale growth '!$A$4:$A$11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' sale growth '!$B$4:$B$11</c:f>
              <c:numCache>
                <c:formatCode>#,##0;"-"#,##0</c:formatCode>
                <c:ptCount val="7"/>
                <c:pt idx="0">
                  <c:v>5494500942.2375059</c:v>
                </c:pt>
                <c:pt idx="1">
                  <c:v>5650842742.9124908</c:v>
                </c:pt>
                <c:pt idx="2">
                  <c:v>5894528840.724987</c:v>
                </c:pt>
                <c:pt idx="3">
                  <c:v>6532727133.6749926</c:v>
                </c:pt>
                <c:pt idx="4">
                  <c:v>6845100978.2624941</c:v>
                </c:pt>
                <c:pt idx="5">
                  <c:v>6845822415.8124819</c:v>
                </c:pt>
                <c:pt idx="6">
                  <c:v>6980453827.5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BF-4C26-85C1-5FF0BF9DF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9051840"/>
        <c:axId val="1980612608"/>
      </c:lineChart>
      <c:catAx>
        <c:axId val="1589051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0612608"/>
        <c:crosses val="autoZero"/>
        <c:auto val="1"/>
        <c:lblAlgn val="ctr"/>
        <c:lblOffset val="100"/>
        <c:noMultiLvlLbl val="0"/>
      </c:catAx>
      <c:valAx>
        <c:axId val="1980612608"/>
        <c:scaling>
          <c:orientation val="minMax"/>
          <c:min val="500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</a:t>
                </a:r>
                <a:r>
                  <a:rPr lang="en-US" baseline="0"/>
                  <a:t>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;&quot;-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051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Copy of Copy of Data - Junior Case - 2026.xlsx] Rent Growth for all!PivotTable10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Rent Growth for all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 Rent Growth for all'!$B$3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 Rent Growth for all'!$A$4:$A$11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' Rent Growth for all'!$B$4:$B$11</c:f>
              <c:numCache>
                <c:formatCode>General</c:formatCode>
                <c:ptCount val="7"/>
                <c:pt idx="0">
                  <c:v>725057879</c:v>
                </c:pt>
                <c:pt idx="1">
                  <c:v>774218006</c:v>
                </c:pt>
                <c:pt idx="2">
                  <c:v>809115529</c:v>
                </c:pt>
                <c:pt idx="3">
                  <c:v>793813470</c:v>
                </c:pt>
                <c:pt idx="4">
                  <c:v>841539330</c:v>
                </c:pt>
                <c:pt idx="5">
                  <c:v>832798293</c:v>
                </c:pt>
                <c:pt idx="6">
                  <c:v>870830471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B1-4092-A27C-BB4A4B1C3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322815"/>
        <c:axId val="227321919"/>
      </c:lineChart>
      <c:catAx>
        <c:axId val="22732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321919"/>
        <c:crosses val="autoZero"/>
        <c:auto val="1"/>
        <c:lblAlgn val="ctr"/>
        <c:lblOffset val="100"/>
        <c:noMultiLvlLbl val="0"/>
      </c:catAx>
      <c:valAx>
        <c:axId val="227321919"/>
        <c:scaling>
          <c:orientation val="minMax"/>
          <c:min val="70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322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Copy of Copy of Data - Junior Case - 2026.xlsx] GROC!PivotTable2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 GROC'!$B$3</c:f>
              <c:strCache>
                <c:ptCount val="1"/>
                <c:pt idx="0">
                  <c:v>Sum of  Gross rent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 GROC'!$A$4:$A$11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' GROC'!$B$4:$B$11</c:f>
              <c:numCache>
                <c:formatCode>General</c:formatCode>
                <c:ptCount val="7"/>
                <c:pt idx="0">
                  <c:v>725057879</c:v>
                </c:pt>
                <c:pt idx="1">
                  <c:v>774218006</c:v>
                </c:pt>
                <c:pt idx="2">
                  <c:v>809115529</c:v>
                </c:pt>
                <c:pt idx="3">
                  <c:v>793813470</c:v>
                </c:pt>
                <c:pt idx="4">
                  <c:v>841539330</c:v>
                </c:pt>
                <c:pt idx="5">
                  <c:v>832798293</c:v>
                </c:pt>
                <c:pt idx="6">
                  <c:v>870830471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71-4A81-A3DC-678BB495E387}"/>
            </c:ext>
          </c:extLst>
        </c:ser>
        <c:ser>
          <c:idx val="1"/>
          <c:order val="1"/>
          <c:tx>
            <c:strRef>
              <c:f>' GROC'!$C$3</c:f>
              <c:strCache>
                <c:ptCount val="1"/>
                <c:pt idx="0">
                  <c:v>Sum of GROC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 GROC'!$A$4:$A$11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' GROC'!$C$4:$C$11</c:f>
              <c:numCache>
                <c:formatCode>0.00%</c:formatCode>
                <c:ptCount val="7"/>
                <c:pt idx="0">
                  <c:v>0.13196064330907864</c:v>
                </c:pt>
                <c:pt idx="1">
                  <c:v>0.13700929953696811</c:v>
                </c:pt>
                <c:pt idx="2">
                  <c:v>0.1372655136420512</c:v>
                </c:pt>
                <c:pt idx="3">
                  <c:v>0.12151333643005527</c:v>
                </c:pt>
                <c:pt idx="4">
                  <c:v>0.12294038213204118</c:v>
                </c:pt>
                <c:pt idx="5">
                  <c:v>0.12165058373065628</c:v>
                </c:pt>
                <c:pt idx="6">
                  <c:v>0.12475270125980932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71-4A81-A3DC-678BB495E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5172831"/>
        <c:axId val="475174751"/>
      </c:barChart>
      <c:catAx>
        <c:axId val="475172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174751"/>
        <c:crosses val="autoZero"/>
        <c:auto val="1"/>
        <c:lblAlgn val="ctr"/>
        <c:lblOffset val="100"/>
        <c:noMultiLvlLbl val="0"/>
      </c:catAx>
      <c:valAx>
        <c:axId val="475174751"/>
        <c:scaling>
          <c:orientation val="minMax"/>
          <c:min val="60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172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3A34-3B48-3300-FAA8-635F45D2B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FOUR CONSULTING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0BEF3-3FF7-60F3-AA5D-1E841E72A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Zainab Abass,  </a:t>
            </a:r>
            <a:r>
              <a:rPr lang="en-US" dirty="0" err="1"/>
              <a:t>Hengjun</a:t>
            </a:r>
            <a:r>
              <a:rPr lang="en-US" dirty="0"/>
              <a:t> Ji,</a:t>
            </a:r>
          </a:p>
          <a:p>
            <a:r>
              <a:rPr lang="en-US" dirty="0"/>
              <a:t>Christian </a:t>
            </a:r>
            <a:r>
              <a:rPr lang="en-US" dirty="0" err="1"/>
              <a:t>Nzige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42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8D1F-B6B7-83D7-C995-2057EF1F7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BaCKROUND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9D8E5-2583-CFE9-B09E-82CEEAAAB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7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4226-6F26-9B75-6BCD-6FDF0757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Durham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DF21-8683-4C95-7C6B-5BAF5675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Parent company: Canadian Pension Plan </a:t>
            </a:r>
          </a:p>
          <a:p>
            <a:r>
              <a:rPr lang="en-US" dirty="0"/>
              <a:t>Position: Investment in high quality retail assets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stable income</a:t>
            </a:r>
          </a:p>
          <a:p>
            <a:pPr lvl="1"/>
            <a:r>
              <a:rPr lang="en-US" dirty="0"/>
              <a:t>long-term growth in property value</a:t>
            </a:r>
          </a:p>
          <a:p>
            <a:r>
              <a:rPr lang="en-US" dirty="0"/>
              <a:t>Concerns: Yorkdale &amp; White Oak Mall</a:t>
            </a:r>
          </a:p>
          <a:p>
            <a:pPr lvl="1"/>
            <a:r>
              <a:rPr lang="en-US" dirty="0"/>
              <a:t>tenant risk and  sustainability</a:t>
            </a:r>
          </a:p>
          <a:p>
            <a:pPr lvl="1"/>
            <a:r>
              <a:rPr lang="en-US" dirty="0"/>
              <a:t>long-term performance</a:t>
            </a:r>
          </a:p>
          <a:p>
            <a:pPr lvl="1"/>
            <a:r>
              <a:rPr lang="en-US" dirty="0"/>
              <a:t>Mian generator of income  (retail mix, capital investment)</a:t>
            </a:r>
          </a:p>
        </p:txBody>
      </p:sp>
    </p:spTree>
    <p:extLst>
      <p:ext uri="{BB962C8B-B14F-4D97-AF65-F5344CB8AC3E}">
        <p14:creationId xmlns:p14="http://schemas.microsoft.com/office/powerpoint/2010/main" val="91994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DF92-335A-1932-D8CD-117BEF6E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41960"/>
            <a:ext cx="3215640" cy="640080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growth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6D7656-7865-4D92-3DC2-397D0115D4F0}"/>
              </a:ext>
            </a:extLst>
          </p:cNvPr>
          <p:cNvSpPr txBox="1">
            <a:spLocks/>
          </p:cNvSpPr>
          <p:nvPr/>
        </p:nvSpPr>
        <p:spPr>
          <a:xfrm>
            <a:off x="213360" y="3284220"/>
            <a:ext cx="5303520" cy="1112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Rent growth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AE9900-4BBA-F681-15E0-82C3C5092E6F}"/>
              </a:ext>
            </a:extLst>
          </p:cNvPr>
          <p:cNvSpPr txBox="1">
            <a:spLocks/>
          </p:cNvSpPr>
          <p:nvPr/>
        </p:nvSpPr>
        <p:spPr>
          <a:xfrm>
            <a:off x="5852160" y="289560"/>
            <a:ext cx="6156962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Gross Rental Occupancy Cost (GROC)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429C3E-CB6D-05E9-D755-F66365F1DE39}"/>
              </a:ext>
            </a:extLst>
          </p:cNvPr>
          <p:cNvSpPr txBox="1">
            <a:spLocks/>
          </p:cNvSpPr>
          <p:nvPr/>
        </p:nvSpPr>
        <p:spPr>
          <a:xfrm>
            <a:off x="6202683" y="3284220"/>
            <a:ext cx="49682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Sales per pedestrian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E9026CD-A5E5-5DED-533F-58F555DCFB59}"/>
              </a:ext>
            </a:extLst>
          </p:cNvPr>
          <p:cNvSpPr txBox="1">
            <a:spLocks/>
          </p:cNvSpPr>
          <p:nvPr/>
        </p:nvSpPr>
        <p:spPr>
          <a:xfrm>
            <a:off x="7117082" y="4259580"/>
            <a:ext cx="37338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sz="9000" dirty="0"/>
              <a:t>$25.17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7F9F075-AB07-1E97-ED3A-B997C1DD20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053506"/>
              </p:ext>
            </p:extLst>
          </p:nvPr>
        </p:nvGraphicFramePr>
        <p:xfrm>
          <a:off x="304800" y="991036"/>
          <a:ext cx="4253488" cy="2635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78E9D1B-06B1-12E2-AC68-4D78E08403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62617"/>
              </p:ext>
            </p:extLst>
          </p:nvPr>
        </p:nvGraphicFramePr>
        <p:xfrm>
          <a:off x="433715" y="3962400"/>
          <a:ext cx="3995657" cy="239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FB32933-6F40-E89A-6522-906714D03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9064447"/>
              </p:ext>
            </p:extLst>
          </p:nvPr>
        </p:nvGraphicFramePr>
        <p:xfrm>
          <a:off x="6278881" y="731520"/>
          <a:ext cx="45720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7229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A9CB-1267-E556-B99C-606B6328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0985-AC31-540B-40EF-EDBD51D8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are lower than Eaton center by 20 %</a:t>
            </a:r>
          </a:p>
          <a:p>
            <a:r>
              <a:rPr lang="en-US" dirty="0"/>
              <a:t>Durham GROC: 12.7%  Eaton center GROC: 20%</a:t>
            </a:r>
          </a:p>
          <a:p>
            <a:r>
              <a:rPr lang="en-US" dirty="0"/>
              <a:t> Eaton center is increasing Capital expenditure </a:t>
            </a:r>
          </a:p>
          <a:p>
            <a:r>
              <a:rPr lang="en-US" dirty="0"/>
              <a:t>Eaton center has more increase in sales per square foot than Durham</a:t>
            </a:r>
          </a:p>
          <a:p>
            <a:r>
              <a:rPr lang="en-US" dirty="0"/>
              <a:t>Sales per visitor</a:t>
            </a:r>
          </a:p>
          <a:p>
            <a:pPr lvl="1"/>
            <a:r>
              <a:rPr lang="en-US" dirty="0"/>
              <a:t>Durham: 25$ </a:t>
            </a:r>
          </a:p>
          <a:p>
            <a:pPr lvl="1"/>
            <a:r>
              <a:rPr lang="en-US" dirty="0"/>
              <a:t>Eaton center: $35, and more pedestrians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49A8-4751-9A15-FDE6-3CDB6ECB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84A9-7105-9B1C-AD37-8C3FDDBECE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AAE28-5BC5-CFE0-28BA-264ADD568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2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3473-7CC5-4BDB-7408-50EE3264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9A53-19DD-7EE0-BC34-358C4011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4CA4C-DB76-1144-4A04-28E673CC3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sales demand with current stores because of low GROC risk</a:t>
            </a:r>
          </a:p>
          <a:p>
            <a:r>
              <a:rPr lang="en-US" dirty="0"/>
              <a:t>Charge more rent for retail stores </a:t>
            </a:r>
          </a:p>
          <a:p>
            <a:r>
              <a:rPr lang="en-US" dirty="0"/>
              <a:t>Cause stores to change of 4 Ps to attract mor people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51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F2A1-342C-5A1A-BB7D-A09998CE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and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B4A7-2EBA-961F-43E1-4E39BCE2B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: increase the rent price step by step</a:t>
            </a:r>
          </a:p>
          <a:p>
            <a:r>
              <a:rPr lang="en-US" dirty="0"/>
              <a:t>Upward: increase the rent price to prevent being conservative</a:t>
            </a:r>
          </a:p>
          <a:p>
            <a:r>
              <a:rPr lang="en-US" dirty="0"/>
              <a:t>Downward:  stabilize which finding alternatives to stabilize the income </a:t>
            </a:r>
          </a:p>
        </p:txBody>
      </p:sp>
    </p:spTree>
    <p:extLst>
      <p:ext uri="{BB962C8B-B14F-4D97-AF65-F5344CB8AC3E}">
        <p14:creationId xmlns:p14="http://schemas.microsoft.com/office/powerpoint/2010/main" val="278954773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139</TotalTime>
  <Words>205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Corbel</vt:lpstr>
      <vt:lpstr>Basis</vt:lpstr>
      <vt:lpstr>FOUR CONSULTING</vt:lpstr>
      <vt:lpstr>BaCKROUND</vt:lpstr>
      <vt:lpstr>Durham Properties</vt:lpstr>
      <vt:lpstr>Sales growth </vt:lpstr>
      <vt:lpstr>Comparison points</vt:lpstr>
      <vt:lpstr>Recommendation</vt:lpstr>
      <vt:lpstr>Recommendation</vt:lpstr>
      <vt:lpstr>Risk and mitigation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Zainab Abass</dc:creator>
  <cp:lastModifiedBy>Zainab Abass</cp:lastModifiedBy>
  <cp:revision>1</cp:revision>
  <dcterms:created xsi:type="dcterms:W3CDTF">2026-03-21T15:00:09Z</dcterms:created>
  <dcterms:modified xsi:type="dcterms:W3CDTF">2026-03-21T17:19:56Z</dcterms:modified>
</cp:coreProperties>
</file>